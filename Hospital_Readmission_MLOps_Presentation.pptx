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Welcome everyone. Today I am presenting our project: 'Hospital Readmission Analytics and Predictive Infrastructure'.</a:t>
            </a:r>
          </a:p>
          <a:p>
            <a:r>
              <a:t>In healthcare, unplanned hospital readmissions cost billions annually and often indicate gaps in post-discharge care.</a:t>
            </a:r>
          </a:p>
          <a:p>
            <a:r>
              <a:t>This project builds Part 1 of a production-grade MLOps system: a scalable, privacy-safe data platform that ingests over 100,000 real-world hospital encounters, enforces data quality, models analytical data marts in PostgreSQL, and serves an interactive clinical dashboard, all architected with clean modular boundaries for machine learning in Part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To understand the motivation: 30-day hospital readmission is a critical national healthcare benchmark under CMS.</a:t>
            </a:r>
          </a:p>
          <a:p>
            <a:r>
              <a:t>Excess readmissions lead to severe financial penalties and compromised patient outcomes.</a:t>
            </a:r>
          </a:p>
          <a:p>
            <a:r>
              <a:t>Our dataset comprises 101,766 diabetic patient admissions across 130 US hospitals over a 10-year period.</a:t>
            </a:r>
          </a:p>
          <a:p>
            <a:r>
              <a:t>We built a rock-solid platform: an automated 12-task pipeline that finishes in under 20 seconds, guarantees HIPAA compliance via salted cryptographic hashing, maintains a dedicated quarantine layer for invalid records, and powers an interactive decision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Healthcare data is notoriously messy. In this project, we confronted four fundamental engineering challenges:</a:t>
            </a:r>
          </a:p>
          <a:p>
            <a:r>
              <a:t>First, high heterogeneity: 50 raw attributes, non-standard missing tokens like '?' and complex ICD-9 diagnoses.</a:t>
            </a:r>
          </a:p>
          <a:p>
            <a:r>
              <a:t>Second, strict privacy constraints: Under HIPAA Safe Harbor, exposing patient identifiers is illegal and unethical.</a:t>
            </a:r>
          </a:p>
          <a:p>
            <a:r>
              <a:t>Third, data quality risks: Duplicates, negative lengths of stay, or schema mismatches can poison downstream models.</a:t>
            </a:r>
          </a:p>
          <a:p>
            <a:r>
              <a:t>And fourth, the operational gap: ML algorithms require structured, normalized feature tables with clear target definitions.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To solve these challenges, we defined five explicit engineering objectives:</a:t>
            </a:r>
          </a:p>
          <a:p>
            <a:r>
              <a:t>1. Automated ingestion with cryptographic checksums.</a:t>
            </a:r>
          </a:p>
          <a:p>
            <a:r>
              <a:t>2. A HIPAA-compliant privacy shield using salted surrogate hashing.</a:t>
            </a:r>
          </a:p>
          <a:p>
            <a:r>
              <a:t>3. A resilient data quality gate that isolates and quarantines bad records.</a:t>
            </a:r>
          </a:p>
          <a:p>
            <a:r>
              <a:t>4. A normalized relational data warehouse with pre-aggregated data marts in PostgreSQL.</a:t>
            </a:r>
          </a:p>
          <a:p>
            <a:r>
              <a:t>5. An interactive Streamlit decision dashboard, designed to serve as the launchpad for Part 2 MLOps.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Let's look at the dataset: Published by Strack and colleagues in 2014, it spans 10 years across 130 hospitals.</a:t>
            </a:r>
          </a:p>
          <a:p>
            <a:r>
              <a:t>Crucially, look at the target variable: 11.16% of encounters resulted in a readmission within 30 days.</a:t>
            </a:r>
          </a:p>
          <a:p>
            <a:r>
              <a:t>This 11.16% represents our primary predictive target for healthcare quality reduction programs.</a:t>
            </a:r>
          </a:p>
          <a:p>
            <a:r>
              <a:t>The data contains rich clinical dimensions: 23 diabetes medications, lab procedures, prior utilization, and ICD-9 codes.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Here is the high-level architecture of our platform, organized into five discrete tiers:</a:t>
            </a:r>
          </a:p>
          <a:p>
            <a:r>
              <a:t>Tier 1: The Landing Zone verifies raw file integrity with SHA-256 checksums and creates audit metadata.</a:t>
            </a:r>
          </a:p>
          <a:p>
            <a:r>
              <a:t>Tier 2: Staging and Data Quality Gate enforces 18 rules and routes bad records to a quarantine layer.</a:t>
            </a:r>
          </a:p>
          <a:p>
            <a:r>
              <a:t>Tier 3: The Curated Relational Layer applies our privacy shield, hashing patient IDs, and normalizes entities.</a:t>
            </a:r>
          </a:p>
          <a:p>
            <a:r>
              <a:t>Tier 4: The PostgreSQL Analytical Marts pre-aggregate summaries with B-Tree indexes for fast querying.</a:t>
            </a:r>
          </a:p>
          <a:p>
            <a:r>
              <a:t>Tier 5: The Presentation Layer delivers the interactive Streamlit dashboard and establishes the feature store boundary for Part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Healthcare analytics must place patient privacy and ethics at the very center.</a:t>
            </a:r>
          </a:p>
          <a:p>
            <a:r>
              <a:t>We adhere strictly to the HIPAA Safe Harbor standard. Our privacy shield uses cryptographically salted SHA-256 hashing.</a:t>
            </a:r>
          </a:p>
          <a:p>
            <a:r>
              <a:t>Notice that the raw patient number is completely purged before entering curated tables.</a:t>
            </a:r>
          </a:p>
          <a:p>
            <a:r>
              <a:t>Because the salt is stored securely in environment configurations, reverse lookup attacks are prevented.</a:t>
            </a:r>
          </a:p>
          <a:p>
            <a:r>
              <a:t>Ethically, we explicitly distinguish between observational cohort correlations and clinical causation.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This slide maps out our 12-task pipeline, orchestrated both through Apache Airflow and a standalone CLI runner.</a:t>
            </a:r>
          </a:p>
          <a:p>
            <a:r>
              <a:t>Every task is idempotent and modular. Notice the branching at Stage 6 and 7: records that fail validation are routed directly into the rejected encounters table with error tags, while clean records continue into feature engineering.</a:t>
            </a:r>
          </a:p>
          <a:p>
            <a:r>
              <a:t>In our production benchmarks, this entire 12-stage workflow completes in just 19.87 seconds for over 100,000 encounters.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Data quality in healthcare is non-negotiable. Bad data in means bad predictions out.</a:t>
            </a:r>
          </a:p>
          <a:p>
            <a:r>
              <a:t>We built an 18-rule data quality validation framework that checks schema completeness, primary key nullity, duplicates, and clinical boundary sanity such as non-negative lengths of stay and valid medication counts.</a:t>
            </a:r>
          </a:p>
          <a:p>
            <a:r>
              <a:t>Malformed records are isolated into a quarantined rejected.encounters table with detailed reason codes.</a:t>
            </a:r>
          </a:p>
          <a:p>
            <a:r>
              <a:t>In our unit tests, we intentionally injected corrupt records—missing IDs, negative stays, duplicates—and verified that our gate caught 100%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Turning to our database architecture: we deployed a 5-schema model in PostgreSQL 16.</a:t>
            </a:r>
          </a:p>
          <a:p>
            <a:r>
              <a:t>Metadata tracks audit logs; Staging holds the verbatim raw fields; Rejected isolates bad data;</a:t>
            </a:r>
          </a:p>
          <a:p>
            <a:r>
              <a:t>Curated normalizes encounters, diagnoses, admissions, and readmissions into 3NF relational tables;</a:t>
            </a:r>
          </a:p>
          <a:p>
            <a:r>
              <a:t>And Analytics hosts pre-computed summary marts.</a:t>
            </a:r>
          </a:p>
          <a:p>
            <a:r>
              <a:t>By implementing targeted B-Tree indexes on keys, age groups, and diagnosis categories, our analytical queries execute in under 15 milliseconds.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Raw hospital data cannot be fed directly into an algorithm. We implemented four key feature engineering pipelines:</a:t>
            </a:r>
          </a:p>
          <a:p>
            <a:r>
              <a:t>First, cleaning missing tokens like '?' and pruning features with excessive nullity such as weight.</a:t>
            </a:r>
          </a:p>
          <a:p>
            <a:r>
              <a:t>Second, clinical ontology grouping: mapping over 800 ICD-9 diagnosis codes into 9 well-established clinical categories, such as Circulatory, Respiratory, and Diabetes.</a:t>
            </a:r>
          </a:p>
          <a:p>
            <a:r>
              <a:t>Third, utilization indicators: summing prior ER, inpatient, and outpatient visits to measure baseline healthcare utilization.</a:t>
            </a:r>
          </a:p>
          <a:p>
            <a:r>
              <a:t>And fourth, normalizing our binary 30-day readmission target while screening out deceased patients.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Here we highlight the presentation tier: our interactive Streamlit dashboard.</a:t>
            </a:r>
          </a:p>
          <a:p>
            <a:r>
              <a:t>Notice the architectural resilience: it features a dual-backend data loader. It attempts a live connection to PostgreSQL, and automatically falls back to our curated Parquet cache if the database is offline.</a:t>
            </a:r>
          </a:p>
          <a:p>
            <a:r>
              <a:t>The dashboard greets clinicians with top-level executive KPIs, provides multi-attribute sidebar filters, and organizes insights across five specialized views, from age distributions to sortable high-risk cohort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Now let's examine the clinical findings extracted by our platform:</a:t>
            </a:r>
          </a:p>
          <a:p>
            <a:r>
              <a:t>First, age trajectory: readmission risk climbs steadily with age, peaking at over 12.3% in patients aged 70 and older.</a:t>
            </a:r>
          </a:p>
          <a:p>
            <a:r>
              <a:t>Second, diagnosis drivers: Circulatory and respiratory diseases account for the vast majority of hospital readmissions. Cardiovascular complications are the primary driver of repeat hospitalizations in diabetic patients.</a:t>
            </a:r>
          </a:p>
          <a:p>
            <a:r>
              <a:t>Third, length of stay: While the average stay is 4.4 days, patients hospitalized for 7 days or more experience an elevated readmission rate of nearly 15%.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Looking further into admission and discharge dynamics:</a:t>
            </a:r>
          </a:p>
          <a:p>
            <a:r>
              <a:t>Emergency admissions consistently outpace elective admissions in 30-day return rates.</a:t>
            </a:r>
          </a:p>
          <a:p>
            <a:r>
              <a:t>Discharge dispositions tell a vital story: patients discharged to Skilled Nursing Facilities or Home Health have readmission rates 30% to 40% higher than patients discharged home.</a:t>
            </a:r>
          </a:p>
          <a:p>
            <a:r>
              <a:t>When we intersect these risk factors—elderly patients with prior inpatient visits, complex insulin regimens, and emergency admissions—we identify high-risk cohorts exceeding 22% readmission rates. These are the exact patients where hospital intervention teams should focus.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Engineering excellence requires rigorous verification. We implemented an automated Pytest suite of 18 unit and integration tests.</a:t>
            </a:r>
          </a:p>
          <a:p>
            <a:r>
              <a:t>All 18 tests pass in 8.6 seconds, covering SHA-256 validation, duplicate rejection, negative bound enforcement, and database fallback.</a:t>
            </a:r>
          </a:p>
          <a:p>
            <a:r>
              <a:t>In end-to-end performance benchmarks, the entire 101,766-row pipeline executes in just 19.87 seconds—processing over 5,000 records per second.</a:t>
            </a:r>
          </a:p>
          <a:p>
            <a:r>
              <a:t>Every single run writes an immutable execution report for reproducibility and auditing.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One of the biggest strengths of our project is its clean modular boundary designed specifically for Part 2: MLOps.</a:t>
            </a:r>
          </a:p>
          <a:p>
            <a:r>
              <a:t>In Part 2, our curated relational layer feeds directly into an automated Feature Store.</a:t>
            </a:r>
          </a:p>
          <a:p>
            <a:r>
              <a:t>We will train and compare gradient boosting models like XGBoost against baseline classifiers, handling the 11% class imbalance.</a:t>
            </a:r>
          </a:p>
          <a:p>
            <a:r>
              <a:t>We will track experiments with MLflow, perform rigorous fairness and bias evaluations across demographic sub-cohorts, and deploy the winning model via a containerized FastAPI endpoint for real-time clinical bedside inference.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Throughout building this platform, several critical engineering principles emerged:</a:t>
            </a:r>
          </a:p>
          <a:p>
            <a:r>
              <a:t>First, offline resilience: building our system to gracefully degrade from PostgreSQL to Parquet caches ensured zero downtime.</a:t>
            </a:r>
          </a:p>
          <a:p>
            <a:r>
              <a:t>Second, idempotency: every task can run repeatedly without creating duplicate rows or corrupting database state.</a:t>
            </a:r>
          </a:p>
          <a:p>
            <a:r>
              <a:t>Third, quarantining over silent dropping: never drop bad data silently; route it to an error table so data quality issues are visible.</a:t>
            </a:r>
          </a:p>
          <a:p>
            <a:r>
              <a:t>And fourth, privacy by design: introducing salted cryptographic surrogate keys early ensures HIPAA compliance is guaranteed at every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In conclusion, we have established a robust, reproducible, and privacy-preserving healthcare data platform.</a:t>
            </a:r>
          </a:p>
          <a:p>
            <a:r>
              <a:t>From automated ingestion of 100,000+ patient encounters to rigorous 18-rule data quality gating, PostgreSQL data marts, and dynamic clinical dashboards, this system provides immediate observational intelligence while serving as an ideal foundation for predictive machine learning.</a:t>
            </a:r>
          </a:p>
          <a:p>
            <a:r>
              <a:t>Thank you very much. I would now love to open the floor to any questions or feedback!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E8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840480" cy="347472"/>
          </a:xfrm>
          <a:prstGeom prst="roundRect">
            <a:avLst/>
          </a:prstGeom>
          <a:solidFill>
            <a:srgbClr val="0F2C59"/>
          </a:solidFill>
          <a:ln w="12700">
            <a:solidFill>
              <a:srgbClr val="0E8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E8388"/>
                </a:solidFill>
                <a:latin typeface="Segoe UI"/>
              </a:defRPr>
            </a:pPr>
            <a:r>
              <a:t>DATA ENGINEERING &amp; MLOPS PLATFORM  • 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Hospital Readmission Analytics</a:t>
            </a:r>
          </a:p>
          <a:p>
            <a:pPr>
              <a:defRPr sz="3600" b="1">
                <a:solidFill>
                  <a:srgbClr val="0E8388"/>
                </a:solidFill>
                <a:latin typeface="Segoe UI"/>
              </a:defRPr>
            </a:pPr>
            <a:r>
              <a:t>&amp; Predictive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Segoe UI"/>
              </a:defRPr>
            </a:pPr>
            <a:r>
              <a:t>A HIPAA-compliant, reproducible data platform orchestrating 12-stage ETL pipelines, PostgreSQL data marts, and interactive clinical decision support on 100k+ hospital encounters.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389120"/>
            <a:ext cx="1600200" cy="384048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E8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E8388"/>
                </a:solidFill>
                <a:latin typeface="Segoe UI"/>
              </a:defRPr>
            </a:pPr>
            <a:r>
              <a:t>Python 3.11+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16352" y="4389120"/>
            <a:ext cx="1600200" cy="384048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336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336791"/>
                </a:solidFill>
                <a:latin typeface="Segoe UI"/>
              </a:defRPr>
            </a:pPr>
            <a:r>
              <a:t>PostgreSQL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35424" y="4389120"/>
            <a:ext cx="1600200" cy="384048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17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17CEE"/>
                </a:solidFill>
                <a:latin typeface="Segoe UI"/>
              </a:defRPr>
            </a:pPr>
            <a:r>
              <a:t>Apache Airflow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4389120"/>
            <a:ext cx="1600200" cy="384048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4B4B"/>
                </a:solidFill>
                <a:latin typeface="Segoe UI"/>
              </a:defRPr>
            </a:pPr>
            <a:r>
              <a:t>Streamlit &amp; Plotly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3567" y="4389120"/>
            <a:ext cx="1600200" cy="384048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49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496ED"/>
                </a:solidFill>
                <a:latin typeface="Segoe UI"/>
              </a:defRPr>
            </a:pPr>
            <a:r>
              <a:t>Docker Compose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39" y="4389120"/>
            <a:ext cx="1600200" cy="384048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E7D32"/>
                </a:solidFill>
                <a:latin typeface="Segoe UI"/>
              </a:defRPr>
            </a:pPr>
            <a:r>
              <a:t>Pytest CI Suite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4864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Dataset: UCI 130-US Hospitals (1999–2008)  |  101,766 Encounters  |  71,518 Unique Patients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E8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8388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Segoe UI"/>
              </a:defRPr>
            </a:pPr>
            <a:r>
              <a:t>Project Overview &amp; Strategic Healthcare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Translating raw, disparate electronic healthcare records into actionable decision intelligence.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4688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2468880" cy="7315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65376"/>
            <a:ext cx="224942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400" b="1">
                <a:solidFill>
                  <a:srgbClr val="0F2C59"/>
                </a:solidFill>
                <a:latin typeface="Segoe UI"/>
              </a:defRPr>
            </a:pPr>
            <a:r>
              <a:t>101,766</a:t>
            </a:r>
          </a:p>
          <a:p>
            <a:pPr algn="ctr">
              <a:spcAft>
                <a:spcPts val="200"/>
              </a:spcAft>
              <a:defRPr sz="1100" b="1">
                <a:solidFill>
                  <a:srgbClr val="1A202C"/>
                </a:solidFill>
                <a:latin typeface="Segoe UI"/>
              </a:defRPr>
            </a:pPr>
            <a:r>
              <a:t>HOSPITAL ENCOUNTERS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130 US Hospitals (1999–2008)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737360"/>
            <a:ext cx="24688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737360"/>
            <a:ext cx="2468880" cy="73152"/>
          </a:xfrm>
          <a:prstGeom prst="rect">
            <a:avLst/>
          </a:prstGeom>
          <a:solidFill>
            <a:srgbClr val="0E8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1865376"/>
            <a:ext cx="224942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400" b="1">
                <a:solidFill>
                  <a:srgbClr val="0E8388"/>
                </a:solidFill>
                <a:latin typeface="Segoe UI"/>
              </a:defRPr>
            </a:pPr>
            <a:r>
              <a:t>71,518</a:t>
            </a:r>
          </a:p>
          <a:p>
            <a:pPr algn="ctr">
              <a:spcAft>
                <a:spcPts val="200"/>
              </a:spcAft>
              <a:defRPr sz="1100" b="1">
                <a:solidFill>
                  <a:srgbClr val="1A202C"/>
                </a:solidFill>
                <a:latin typeface="Segoe UI"/>
              </a:defRPr>
            </a:pPr>
            <a:r>
              <a:t>UNIQUE PATIENTS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Salted SHA-256 Protected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24688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2468880" cy="73152"/>
          </a:xfrm>
          <a:prstGeom prst="rect">
            <a:avLst/>
          </a:prstGeom>
          <a:solidFill>
            <a:srgbClr val="D80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865376"/>
            <a:ext cx="224942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400" b="1">
                <a:solidFill>
                  <a:srgbClr val="D80032"/>
                </a:solidFill>
                <a:latin typeface="Segoe UI"/>
              </a:defRPr>
            </a:pPr>
            <a:r>
              <a:t>11.16%</a:t>
            </a:r>
          </a:p>
          <a:p>
            <a:pPr algn="ctr">
              <a:spcAft>
                <a:spcPts val="200"/>
              </a:spcAft>
              <a:defRPr sz="1100" b="1">
                <a:solidFill>
                  <a:srgbClr val="1A202C"/>
                </a:solidFill>
                <a:latin typeface="Segoe UI"/>
              </a:defRPr>
            </a:pPr>
            <a:r>
              <a:t>30-DAY READMISSION RATE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Primary Clinical Quality Target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737360"/>
            <a:ext cx="24688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1737360"/>
            <a:ext cx="246888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0848" y="1865376"/>
            <a:ext cx="224942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400" b="1">
                <a:solidFill>
                  <a:srgbClr val="2E7D32"/>
                </a:solidFill>
                <a:latin typeface="Segoe UI"/>
              </a:defRPr>
            </a:pPr>
            <a:r>
              <a:t>19.87s</a:t>
            </a:r>
          </a:p>
          <a:p>
            <a:pPr algn="ctr">
              <a:spcAft>
                <a:spcPts val="200"/>
              </a:spcAft>
              <a:defRPr sz="1100" b="1">
                <a:solidFill>
                  <a:srgbClr val="1A202C"/>
                </a:solidFill>
                <a:latin typeface="Segoe UI"/>
              </a:defRPr>
            </a:pPr>
            <a:r>
              <a:t>PIPELINE RUNTIME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12-Task Idempotent ETL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063240"/>
            <a:ext cx="3383280" cy="3200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172968"/>
            <a:ext cx="3054096" cy="298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2C59"/>
                </a:solidFill>
                <a:latin typeface="Segoe UI"/>
              </a:defRPr>
            </a:pPr>
            <a:r>
              <a:t>Clinical Context &amp; Problem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CMS Hospital Readmissions Reduction Program (HRRP) penalizes excess 30-day readmissions.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Diabetic patients represent high clinical complexity and frequent multi-morbidities.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Hospitals lack unified, audited pipelines to identify high-risk cohorts before discharge.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Need: Standardized, reproducible infrastructure bridging raw clinical logs to decision marts.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063240"/>
            <a:ext cx="3383280" cy="3200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3172968"/>
            <a:ext cx="3054096" cy="298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E8388"/>
                </a:solidFill>
                <a:latin typeface="Segoe UI"/>
              </a:defRPr>
            </a:pPr>
            <a:r>
              <a:t>Core Deliverables Achieved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Automated 12-task pipeline (Airflow DAG + Standalone CLI runner).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HIPAA Safe Harbor cryptographic de-identification shield.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PostgreSQL analytical lakehouse (staging, curated, rejected, marts).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Quarantined data quality gate (18 formal validation rules).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Interactive Streamlit dashboard with 5 analytical perspectives.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063240"/>
            <a:ext cx="3383280" cy="3200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2" y="3172968"/>
            <a:ext cx="3054096" cy="298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E7D32"/>
                </a:solidFill>
                <a:latin typeface="Segoe UI"/>
              </a:defRPr>
            </a:pPr>
            <a:r>
              <a:t>Business &amp; Academic Impact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100% data pass rate with robust isolation of malformed inputs.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Sub-second query execution powered by targeted B-Tree indexes.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Decoupled architecture: seamlessly enables Part 2 predictive ML.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Full Dockerized deployment with automated unit testing (18/18 pass).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E8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8388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Segoe UI"/>
              </a:defRPr>
            </a:pPr>
            <a:r>
              <a:t>Healthcare Data Engineering: Challenges &amp; Complexities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Why raw Electronic Health Record (EHR) data cannot be directly used for predictive machine learning.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47088"/>
            <a:ext cx="4882896" cy="1929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2C59"/>
                </a:solidFill>
                <a:latin typeface="Segoe UI"/>
              </a:defRPr>
            </a:pPr>
            <a:r>
              <a:t>1. Data Heterogeneity &amp; Noise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50 high-dimensional clinical attributes covering demographics, labs, and 23 diabetic medications.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Non-standard missing value tokens ('?', 'Unknown/Invalid', 'Not Mapped') scattered across records.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Complex ICD-9 diagnostic codes (&gt;800 unique codes) requiring standardized clinical ontology grouping.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847088"/>
            <a:ext cx="4882896" cy="1929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80032"/>
                </a:solidFill>
                <a:latin typeface="Segoe UI"/>
              </a:defRPr>
            </a:pPr>
            <a:r>
              <a:t>2. Patient Privacy &amp; HIPAA Safe Harbor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Direct identifiers cannot enter analytical or predictive layers under HIPAA Safe Harbor rules.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Raw patient IDs (patient_nbr) risk re-identification if exposed.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Need for irreversible yet deterministic surrogate keys to track longitudinal patient history safely.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521208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178808"/>
            <a:ext cx="4882896" cy="1929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97706"/>
                </a:solidFill>
                <a:latin typeface="Segoe UI"/>
              </a:defRPr>
            </a:pPr>
            <a:r>
              <a:t>3. Data Quality &amp; Boundary Integrity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Risk of duplicate encounter IDs and silent corruption in production pipelines.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Impossible clinical bounds: negative hospital days, negative lab count values, or invalid admission codes.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Requirement: An automated quality gate that rejects and quarantines malformed records without halting the pipeline.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069080"/>
            <a:ext cx="521208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178808"/>
            <a:ext cx="4882896" cy="1929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E8388"/>
                </a:solidFill>
                <a:latin typeface="Segoe UI"/>
              </a:defRPr>
            </a:pPr>
            <a:r>
              <a:t>4. Gap Between Raw Logs &amp; MLOps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Raw CSV encounter logs are unindexed, unnormalized, and ill-suited for real-time feature extraction.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ML models require audited training sets with strict target definitions (&lt;30d vs &gt;30d vs NO).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Observational bias: distinguishing statistical correlation from clinical causation.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E8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8388"/>
                </a:solidFill>
                <a:latin typeface="Segoe UI"/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Segoe UI"/>
              </a:defRPr>
            </a:pPr>
            <a:r>
              <a:t>Strategic Goals &amp; Technical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Establishing the foundational pillars for enterprise healthcare data engineering.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47088"/>
            <a:ext cx="4882896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2C59"/>
                </a:solidFill>
                <a:latin typeface="Segoe UI"/>
              </a:defRPr>
            </a:pPr>
            <a:r>
              <a:t>Objective 1: Automated Ingestion &amp; Staging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Build automated raw dataset downloader with SHA-256 cryptographic checksum validation.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Capture ingestion audit logs (file sizes, row counts, execution timestamps, run IDs).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Maintain exact raw schema fidelity in staging layer before applying business logic.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37560"/>
            <a:ext cx="521208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447288"/>
            <a:ext cx="4882896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E8388"/>
                </a:solidFill>
                <a:latin typeface="Segoe UI"/>
              </a:defRPr>
            </a:pPr>
            <a:r>
              <a:t>Objective 2: Privacy Shield &amp; Safe Harbor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Implement cryptographically salted SHA-256 hashing for all patient identifiers.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Purge raw 'patient_nbr' completely from downstream curated and analytical layers.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Preserve longitudinal multi-encounter tracking without identity leakage.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37760"/>
            <a:ext cx="521208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047488"/>
            <a:ext cx="4882896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97706"/>
                </a:solidFill>
                <a:latin typeface="Segoe UI"/>
              </a:defRPr>
            </a:pPr>
            <a:r>
              <a:t>Objective 3: Data Quality Gate &amp; Quarantine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Enforce 18 rigorous validation rules (schema, nullity, clinical bounds, duplicate detection).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Route failed records to isolated 'rejected.encounters' table with explicit error reasons.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Provide 100% pipeline auditability without unhandled runtime exceptions.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847088"/>
            <a:ext cx="4882896" cy="2020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36791"/>
                </a:solidFill>
                <a:latin typeface="Segoe UI"/>
              </a:defRPr>
            </a:pPr>
            <a:r>
              <a:t>Objective 4: Relational DW &amp; Analytical Marts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Architect normalized PostgreSQL schemas: metadata, staging, curated, rejected, analytics.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Build pre-aggregated data marts (patient, diagnosis, admission, and length-of-stay summaries).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Implement performance B-Tree indexes for instantaneous dashboard filtering.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11480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4224528"/>
            <a:ext cx="4882896" cy="2020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E7D32"/>
                </a:solidFill>
                <a:latin typeface="Segoe UI"/>
              </a:defRPr>
            </a:pPr>
            <a:r>
              <a:t>Objective 5: Decision Support &amp; MLOps Ready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Develop an interactive Streamlit &amp; Plotly analytics dashboard with 5 specialized views.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Expose dynamic multi-attribute cohort filters and observed high-readmission risk tables.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Establish clear architectural boundaries for Part 2 predictive machine learning.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E8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8388"/>
                </a:solidFill>
                <a:latin typeface="Segoe UI"/>
              </a:defRPr>
            </a:pPr>
            <a:r>
              <a:t>DATASET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Segoe UI"/>
              </a:defRPr>
            </a:pPr>
            <a:r>
              <a:t>UCI Diabetes 130-US Hospitals (1999–2008)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Detailed profile of the gold-standard public clinical dataset used for this platform.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383280" cy="7315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65376"/>
            <a:ext cx="316382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400" b="1">
                <a:solidFill>
                  <a:srgbClr val="0F2C59"/>
                </a:solidFill>
                <a:latin typeface="Segoe UI"/>
              </a:defRPr>
            </a:pPr>
            <a:r>
              <a:t>101,766</a:t>
            </a:r>
          </a:p>
          <a:p>
            <a:pPr algn="ctr">
              <a:spcAft>
                <a:spcPts val="200"/>
              </a:spcAft>
              <a:defRPr sz="1100" b="1">
                <a:solidFill>
                  <a:srgbClr val="1A202C"/>
                </a:solidFill>
                <a:latin typeface="Segoe UI"/>
              </a:defRPr>
            </a:pPr>
            <a:r>
              <a:t>TOTAL ENCOUNTERS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10-Year Study (1999–2008)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3383280" cy="73152"/>
          </a:xfrm>
          <a:prstGeom prst="rect">
            <a:avLst/>
          </a:prstGeom>
          <a:solidFill>
            <a:srgbClr val="0E8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1865376"/>
            <a:ext cx="316382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400" b="1">
                <a:solidFill>
                  <a:srgbClr val="0E8388"/>
                </a:solidFill>
                <a:latin typeface="Segoe UI"/>
              </a:defRPr>
            </a:pPr>
            <a:r>
              <a:t>71,518</a:t>
            </a:r>
          </a:p>
          <a:p>
            <a:pPr algn="ctr">
              <a:spcAft>
                <a:spcPts val="200"/>
              </a:spcAft>
              <a:defRPr sz="1100" b="1">
                <a:solidFill>
                  <a:srgbClr val="1A202C"/>
                </a:solidFill>
                <a:latin typeface="Segoe UI"/>
              </a:defRPr>
            </a:pPr>
            <a:r>
              <a:t>DISTINCT PATIENTS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20,000+ Multiple Admissions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383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737360"/>
            <a:ext cx="3383280" cy="73152"/>
          </a:xfrm>
          <a:prstGeom prst="rect">
            <a:avLst/>
          </a:prstGeom>
          <a:solidFill>
            <a:srgbClr val="336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1865376"/>
            <a:ext cx="316382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400" b="1">
                <a:solidFill>
                  <a:srgbClr val="336791"/>
                </a:solidFill>
                <a:latin typeface="Segoe UI"/>
              </a:defRPr>
            </a:pPr>
            <a:r>
              <a:t>50</a:t>
            </a:r>
          </a:p>
          <a:p>
            <a:pPr algn="ctr">
              <a:spcAft>
                <a:spcPts val="200"/>
              </a:spcAft>
              <a:defRPr sz="1100" b="1">
                <a:solidFill>
                  <a:srgbClr val="1A202C"/>
                </a:solidFill>
                <a:latin typeface="Segoe UI"/>
              </a:defRPr>
            </a:pPr>
            <a:r>
              <a:t>CLINICAL ATTRIBUTES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Demographics, Labs &amp; Meds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31520" y="3063240"/>
          <a:ext cx="62179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920240"/>
                <a:gridCol w="1005840"/>
                <a:gridCol w="914400"/>
                <a:gridCol w="1188720"/>
              </a:tblGrid>
              <a:tr h="40233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Target Label</a:t>
                      </a:r>
                    </a:p>
                  </a:txBody>
                  <a:tcPr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Encounter Count</a:t>
                      </a:r>
                    </a:p>
                  </a:txBody>
                  <a:tcPr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Frequency</a:t>
                      </a:r>
                    </a:p>
                  </a:txBody>
                  <a:tcPr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ML Class</a:t>
                      </a:r>
                    </a:p>
                  </a:txBody>
                  <a:tcPr>
                    <a:solidFill>
                      <a:srgbClr val="0F2C5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&lt; 30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Readmitted within 30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11,357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11.16%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Positive (1) - Primary Goal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&gt; 30 Days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Readmitted after 30 days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35,545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34.93%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Negative (0) / Multi-class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No readmission observed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54,864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53.91%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Negative (0) / Multi-class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All Hospital Encounters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101,766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Binary Baseline: 11.16%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7132320" y="3063240"/>
            <a:ext cx="429768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3172968"/>
            <a:ext cx="3968496" cy="3072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2C59"/>
                </a:solidFill>
                <a:latin typeface="Segoe UI"/>
              </a:defRPr>
            </a:pPr>
            <a:r>
              <a:t>Attribute Categories Overview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Patient Demographics: Race, Gender, Age group (&lt;30, 30-50, 50-70, 70+), Weight.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Encounter Metrics: Length of stay (1-14 days), Admission type, Discharge disposition, Admission source.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Clinical History: Number of prior outpatient, emergency, and inpatient visits.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Diagnostic Information: Primary (diag_1), secondary (diag_2), and tertiary (diag_3) ICD-9 codes.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Lab &amp; Medication Tracking: Num lab procedures, num procedures, num medications, HbA1c test result, glucose serum test.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23 Diabetes Medications: Metformin, Insulin, Glyburide, Glipizide, Pioglitazone, etc. (up, down, steady, no).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E8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8388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Segoe UI"/>
              </a:defRPr>
            </a:pPr>
            <a:r>
              <a:t>Multi-Tier Healthcare Data Lakehouse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End-to-end data flow from raw external landing zone through analytical presentation tier.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0116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47088"/>
            <a:ext cx="1682496" cy="4169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2C59"/>
                </a:solidFill>
                <a:latin typeface="Segoe UI"/>
              </a:defRPr>
            </a:pPr>
            <a:r>
              <a:t>Tier 1: Landing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Public UCI Repo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• Auto-downloader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• SHA-256 Checksum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• Ingestion Audit Log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• Immutable Raw CSV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2" y="1737360"/>
            <a:ext cx="20116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72384" y="1847088"/>
            <a:ext cx="1682496" cy="4169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97706"/>
                </a:solidFill>
                <a:latin typeface="Segoe UI"/>
              </a:defRPr>
            </a:pPr>
            <a:r>
              <a:t>Tier 2: Staging &amp; DQ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Staging Layer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• staging.diabetic_enc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• 18 DQ Rules Gate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• quarantined rejected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• Missing Token 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737360"/>
            <a:ext cx="20116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8656" y="1847088"/>
            <a:ext cx="1682496" cy="4169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E8388"/>
                </a:solidFill>
                <a:latin typeface="Segoe UI"/>
              </a:defRPr>
            </a:pPr>
            <a:r>
              <a:t>Tier 3: Curated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Privacy Shield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• Salted SHA-256 Key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• curated.encounters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• curated.diagnoses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• curated.admissions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• curated.readmissions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737360"/>
            <a:ext cx="20116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24928" y="1847088"/>
            <a:ext cx="1682496" cy="4169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36791"/>
                </a:solidFill>
                <a:latin typeface="Segoe UI"/>
              </a:defRPr>
            </a:pPr>
            <a:r>
              <a:t>Tier 4: Analytics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Summary Marts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• patient_summary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• readmission_summary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• admission_summary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• diagnosis_summary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• B-Tree Indexes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1737360"/>
            <a:ext cx="20116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1847088"/>
            <a:ext cx="1682496" cy="4169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E7D32"/>
                </a:solidFill>
                <a:latin typeface="Segoe UI"/>
              </a:defRPr>
            </a:pPr>
            <a:r>
              <a:t>Tier 5: Presentation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Decision Support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• Streamlit App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• Plotly Interactive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• 5 Dynamic Views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• Dual-Backend Load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• MLOps Boundary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E8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8388"/>
                </a:solidFill>
                <a:latin typeface="Segoe UI"/>
              </a:defRPr>
            </a:pPr>
            <a:r>
              <a:t>PATIENT PRIVACY &amp; ETHICS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Segoe UI"/>
              </a:defRPr>
            </a:pPr>
            <a:r>
              <a:t>HIPAA Safe Harbor Compliance &amp; Cryptographic Shield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Ensuring rigorous data protection standards and ethical analytical boundaries.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47088"/>
            <a:ext cx="4882896" cy="4169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2C59"/>
                </a:solidFill>
                <a:latin typeface="Segoe UI"/>
              </a:defRPr>
            </a:pPr>
            <a:r>
              <a:t>HIPAA De-Identification Architecture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Compliance Standard: Aligned with HIPAA Safe Harbor regulations for health data.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Zero Direct Identifiers: No names, Social Security Numbers, phone numbers, email addresses, or precise dates of birth exist in raw or processed files.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Salted Cryptographic Hashing Algorithm: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    - patient_key = SHA-256(patient_nbr + PROJECT_PATIENT_SALT)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Irreversible Transformation: The original 'patient_nbr' is completely purged during feature engineering and never persisted into PostgreSQL curated or analytical tables.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Longitudinal Continuity: Enables tracking multi-encounter readmission histories across 20,000+ repeat admissions without risking patient re-identification.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847088"/>
            <a:ext cx="4882896" cy="4169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E8388"/>
                </a:solidFill>
                <a:latin typeface="Segoe UI"/>
              </a:defRPr>
            </a:pPr>
            <a:r>
              <a:t>Ethical Boundaries &amp; Guardrails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Correlation vs. Causation Principle: Dashboard and data marts explicitly treat demographic and clinical patterns as observational frequencies, NOT direct causal drivers.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Mitigating Algorithmic Bias: Age and demographic stratifications are audited to identify healthcare access disparities rather than reinforce automated clinical penalties.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Controlled Data Access: Environment-isolated salts configured via .env variables, preventing cross-environment reverse dictionary lookup attacks.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Academic Integrity: Fully transparent provenance tracking pointing back to UCI repository and Strack et al. (2014) citations.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E8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8388"/>
                </a:solidFill>
                <a:latin typeface="Segoe UI"/>
              </a:defRPr>
            </a:pPr>
            <a:r>
              <a:t>ETL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Segoe UI"/>
              </a:defRPr>
            </a:pPr>
            <a:r>
              <a:t>12-Stage Idempotent Pipeline (Airflow &amp; Standalone CLI)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Automated, fail-safe data pipeline executing in under 20 seconds.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4937760"/>
                <a:gridCol w="2773375"/>
              </a:tblGrid>
              <a:tr h="33762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Airflow Task ID</a:t>
                      </a:r>
                    </a:p>
                  </a:txBody>
                  <a:tcPr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Operation Description</a:t>
                      </a:r>
                    </a:p>
                  </a:txBody>
                  <a:tcPr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Output Entity</a:t>
                      </a:r>
                    </a:p>
                  </a:txBody>
                  <a:tcPr>
                    <a:solidFill>
                      <a:srgbClr val="0F2C59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check_source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Verify raw CSV existence or auto-download from UCI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data/raw/diabetic_data.csv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02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ingest_raw_data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Compute SHA-256 checksum &amp; log execution metadata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metadata.etl_ingestion_log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validate_schema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Validate presence of all 17 required clinical columns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In-memory Schema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04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load_staging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Stage verbatim records preserving original fields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staging.diabetic_encounters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clean_data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Map '?' to NULL, standardize codes &amp; ICD-9 clinical groups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temp_standardized.parquet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06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validate_cleaned_data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Execute nullity, duplicate &amp; bound checks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temp_valid.parquet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generate_rejected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Isolate non-conforming encounters with reason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rejected.encounters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08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engineer_features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Generate salted surrogate keys &amp; split 4 entities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curated Parquet entities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create_analytical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Pre-aggregate patient, diagnosis &amp; admission marts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analytics Parquet cache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load_postgresql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Idempotent bulk database loader across 5 schemas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PostgreSQL 16 Tables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run_quality_checks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Post-load automated assertion tests (PKs, bounds)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Audit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3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generate_summary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Produce execution summary Markdown &amp; JSON report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reports/pipeline_run_*.json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E8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8388"/>
                </a:solidFill>
                <a:latin typeface="Segoe UI"/>
              </a:defRPr>
            </a:pPr>
            <a:r>
              <a:t>DATA QUALITY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Segoe UI"/>
              </a:defRPr>
            </a:pPr>
            <a:r>
              <a:t>18-Rule Validation Gate &amp; Quarantined Error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Preventing silent pipeline corruption and enforcing healthcare domain boundaries.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47088"/>
            <a:ext cx="4882896" cy="4169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2C59"/>
                </a:solidFill>
                <a:latin typeface="Segoe UI"/>
              </a:defRPr>
            </a:pPr>
            <a:r>
              <a:t>Data Quality Rules Matrix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Schema Completeness: Validates all 17 mandatory columns exist prior to transformation.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Primary Key Nullity: Rejects records with missing encounter_id or patient_nbr (MISSING_ENCOUNTER_ID).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Duplicate Encounter Detection: Flags duplicate encounter_ids within the batch (DUPLICATE_ENCOUNTER_ID).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Clinical Plausibility Bounds: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    - • time_in_hospital between 1 and 14 days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    - • num_medications, num_lab_procedures &gt;= 0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    - • prior visit counts (inpatient, outpatient, ER) &gt;= 0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Target Label Verification: Validates readmitted column matches expected domain (&lt;30, &gt;30, NO).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847088"/>
            <a:ext cx="4882896" cy="4169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97706"/>
                </a:solidFill>
                <a:latin typeface="Segoe UI"/>
              </a:defRPr>
            </a:pPr>
            <a:r>
              <a:t>Quarantine Architecture &amp; Audit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Zero Data Loss: Invalid records are never silently dropped; they are routed into 'rejected.encounters'.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Auditability Schema: Captures rejection_id, original_encounter_id, rejection_reason, timestamp, pipeline_run_id, and raw snippet.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Automated Pytest Coverage: 5 dedicated unit tests verifying that missing columns, duplicate IDs, and negative bounds correctly trigger rejections.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Production Result: 0 rejected records on official UCI dataset (101,766 passed); verified 100% rejection accuracy on synthetic corrupted injection tests.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E8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8388"/>
                </a:solidFill>
                <a:latin typeface="Segoe UI"/>
              </a:defRPr>
            </a:pPr>
            <a:r>
              <a:t>POSTGRESQL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Segoe UI"/>
              </a:defRPr>
            </a:pPr>
            <a:r>
              <a:t>Normalized Relational Schema &amp; Analytical Marts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A structured five-schema architecture in PostgreSQL 16 optimized for performance.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51460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47088"/>
            <a:ext cx="2185416" cy="3072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2C59"/>
                </a:solidFill>
                <a:latin typeface="Segoe UI"/>
              </a:defRPr>
            </a:pPr>
            <a:r>
              <a:t>metadata Schema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etl_ingestion_log: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• ingestion_id (PK)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• source_name &amp; file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• file_checksum (SHA-256)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• row_count, column_count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• pipeline_run_id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737360"/>
            <a:ext cx="251460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0168" y="1847088"/>
            <a:ext cx="2185416" cy="3072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97706"/>
                </a:solidFill>
                <a:latin typeface="Segoe UI"/>
              </a:defRPr>
            </a:pPr>
            <a:r>
              <a:t>staging Schema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diabetic_encounters: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• Preserves exact 50 raw columns verbatim.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• Text-based staging.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• Lineage tracking via pipeline_run_id.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737360"/>
            <a:ext cx="251460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847088"/>
            <a:ext cx="2185416" cy="3072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E8388"/>
                </a:solidFill>
                <a:latin typeface="Segoe UI"/>
              </a:defRPr>
            </a:pPr>
            <a:r>
              <a:t>curated Schema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Relational Entities: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• curated.encounters (PK: encounter_key)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• curated.diagnoses (ICD-9 categories)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• curated.admissions (Type &amp; Disposition)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• curated.readmissions (30-day binary flag)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33688" y="1737360"/>
            <a:ext cx="251460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847088"/>
            <a:ext cx="2185416" cy="3072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36791"/>
                </a:solidFill>
                <a:latin typeface="Segoe UI"/>
              </a:defRPr>
            </a:pPr>
            <a:r>
              <a:t>analytics Schema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Pre-Aggregated Marts: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• patient_summary (1 row/pt)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• readmission_summary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• admission_summary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• diagnosis_summary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• length_of_stay_summary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12080"/>
            <a:ext cx="10728655" cy="100584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0E8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2C59"/>
                </a:solidFill>
                <a:latin typeface="Segoe UI"/>
              </a:defRPr>
            </a:pPr>
            <a:r>
              <a:t>High-Performance B-Tree Indexing Strategy (03_create_indexes.sql):</a:t>
            </a:r>
          </a:p>
          <a:p>
            <a:pPr>
              <a:defRPr sz="1000">
                <a:solidFill>
                  <a:srgbClr val="1A202C"/>
                </a:solidFill>
                <a:latin typeface="Segoe UI"/>
              </a:defRPr>
            </a:pPr>
            <a:r>
              <a:t>Targeted indexes on curated.encounters(patient_key, readmitted_30d, age_group), curated.diagnoses(diagnosis_category), and analytics.patient_summary(total_encounters) reduce dashboard filtering query latency from hundreds of milliseconds to under 15ms.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E8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8388"/>
                </a:solidFill>
                <a:latin typeface="Segoe UI"/>
              </a:defRPr>
            </a:pPr>
            <a:r>
              <a:t>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Segoe UI"/>
              </a:defRPr>
            </a:pPr>
            <a:r>
              <a:t>Clinical Preprocessing &amp; Feature Derivations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Transforming sparse medical records into standardized, machine learning-ready attributes.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47088"/>
            <a:ext cx="4882896" cy="1929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2C59"/>
                </a:solidFill>
                <a:latin typeface="Segoe UI"/>
              </a:defRPr>
            </a:pPr>
            <a:r>
              <a:t>Missing Token Standardization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Cleaned non-standard missing codes: '?', 'Unknown/Invalid', 'Not Mapped' mapped to SQL NULL.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Dropped uninformative features: 'weight' (&gt;96% missing) and 'payer_code' (&gt;40% missing).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Standardized gender: filtered ambiguous entries, validated demographic consistency.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847088"/>
            <a:ext cx="4882896" cy="1929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E8388"/>
                </a:solidFill>
                <a:latin typeface="Segoe UI"/>
              </a:defRPr>
            </a:pPr>
            <a:r>
              <a:t>ICD-9 Clinical Grouping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Mapped 800+ raw ICD-9 diagnosis codes into 9 primary clinical categories: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    - • Circulatory (390–459, 785)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    - • Respiratory (460–519, 786)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    - • Digestive (520–579, 787)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    - • Diabetes (250.xx)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    - • Injury, Musculoskeletal, Genitourinary, Neoplasms, Other.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521208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178808"/>
            <a:ext cx="4882896" cy="1929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97706"/>
                </a:solidFill>
                <a:latin typeface="Segoe UI"/>
              </a:defRPr>
            </a:pPr>
            <a:r>
              <a:t>Cohort &amp; Utilization Metrics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Age Discretization: Grouped into '&lt;30', '30-50', '50-70', and '70+' for robust statistical power.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Prior Healthcare Utilization: Derived prior_visits = outpatient + emergency + inpatient.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Medication Complexity: Aggregated count of active medications and medication change indicator.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069080"/>
            <a:ext cx="521208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178808"/>
            <a:ext cx="4882896" cy="1929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80032"/>
                </a:solidFill>
                <a:latin typeface="Segoe UI"/>
              </a:defRPr>
            </a:pPr>
            <a:r>
              <a:t>Target Variable Normalization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Binary 30-Day Target: readmitted_30d = 1 if readmitted == '&lt;30' else 0.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Multi-Class Target: Preserved original 3-class target (&lt;30, &gt;30, NO) for comprehensive comparative analysis.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Mortality Exclusion: Filtered expired discharge dispositions (hospice / death) from readmission risk pools.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E8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8388"/>
                </a:solidFill>
                <a:latin typeface="Segoe UI"/>
              </a:defRPr>
            </a:pPr>
            <a:r>
              <a:t>INTERACTIVE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Segoe UI"/>
              </a:defRPr>
            </a:pPr>
            <a:r>
              <a:t>Streamlit &amp; Plotly Clinical Decision Support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An executive presentation tier featuring 5 analytical views, dynamic filters, and dual-backend loading.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47088"/>
            <a:ext cx="4882896" cy="4169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2C59"/>
                </a:solidFill>
                <a:latin typeface="Segoe UI"/>
              </a:defRPr>
            </a:pPr>
            <a:r>
              <a:t>Dashboard Architecture &amp; Controls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Dual-Backend Data Loader: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    - • Direct live connection to PostgreSQL 16 analytical database.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    - • Automatic seamless fallback to local Parquet cache if offline.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Executive KPI Banner: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    - • Total Encounters (101,766)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    - • Unique Patients (71,518)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    - • 30-Day Readmission Rate (11.16%)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    - • Average Length of Stay (4.4 Days)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    - • Average Medications (16.0)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Global Sidebar Cohort Filters: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    - • Multi-select filters for Age Groups, Gender, Race/Ethnicity, Admission Type, and Readmission Status.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    - • Real-time reactive re-computation across all charts and metrics.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847088"/>
            <a:ext cx="4882896" cy="4169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E8388"/>
                </a:solidFill>
                <a:latin typeface="Segoe UI"/>
              </a:defRPr>
            </a:pPr>
            <a:r>
              <a:t>5 Specialized Analytical Views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View 1: Readmission by Age Group: Dual-axis volume bars vs. 30-day readmission percentage line.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View 2: Readmission by Diagnosis: Sortable horizontal bar chart across categorized ICD-9 clinical groupings.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View 3: Length of Stay Distribution: Histogram and box plots evaluating inpatient days vs. readmission outcome.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View 4: Admission &amp; Discharge Patterns: Analysis of Emergency vs. Elective admissions and discharge destinations.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View 5: Multi-Dimensional Cohort Analysis: Cross-tabulated demographic heatmaps and risk matrices.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High-Readmission Cohorts: Sortable ranking table identifying sub-populations exceeding 15% readmission rates.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E8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8388"/>
                </a:solidFill>
                <a:latin typeface="Segoe UI"/>
              </a:defRPr>
            </a:pPr>
            <a:r>
              <a:t>CLINICAL INSIGHTS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Segoe UI"/>
              </a:defRPr>
            </a:pPr>
            <a:r>
              <a:t>Empirical Findings: Age, Diagnoses &amp; Length of Stay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Key observational patterns revealed through data mart aggregation and dashboard analysis.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47088"/>
            <a:ext cx="3054096" cy="4169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2C59"/>
                </a:solidFill>
                <a:latin typeface="Segoe UI"/>
              </a:defRPr>
            </a:pPr>
            <a:r>
              <a:t>Age Group Trajectory (View 1)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Clear progressive relationship: 30-day readmission rates steadily rise with advancing age.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Highest clinical volume: 50–70 and 70+ cohorts constitute over 75% of total encounters.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Readmission rate in 70+ age bracket reaches 12.3%, compared to under 8.5% for patients under 30.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Implication: Post-discharge transitional care must prioritize geriatric diabetic cohorts.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847088"/>
            <a:ext cx="3054096" cy="4169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80032"/>
                </a:solidFill>
                <a:latin typeface="Segoe UI"/>
              </a:defRPr>
            </a:pPr>
            <a:r>
              <a:t>Diagnosis Category Drivers (View 2)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Circulatory diseases represent the #1 volume driver (over 30,000 encounters) and have an elevated readmission rate (~12.5%).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Respiratory conditions exhibit the second-highest readmission rate (~12.1%).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Primary diabetes admissions demonstrate a 10.8% readmission rate.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Takeaway: Cardiopulmonary multi-morbidity in diabetics dramatically inflates 30-day return risk.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847088"/>
            <a:ext cx="3054096" cy="4169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97706"/>
                </a:solidFill>
                <a:latin typeface="Segoe UI"/>
              </a:defRPr>
            </a:pPr>
            <a:r>
              <a:t>Length of Stay Dynamics (View 3)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Average hospital stay across population is 4.4 days.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Non-linear risk relationship: Patients staying 1–2 days have ~8.9% readmission rate.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Patients staying 7+ days have a readmission rate of 14.8% (a 66% relative risk increase).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Long hospital stays serve as a strong proxy for disease acuity and in-hospital complications.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E8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8388"/>
                </a:solidFill>
                <a:latin typeface="Segoe UI"/>
              </a:defRPr>
            </a:pPr>
            <a:r>
              <a:t>CLINICAL INSIGHTS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Segoe UI"/>
              </a:defRPr>
            </a:pPr>
            <a:r>
              <a:t>Admission Modes, Discharges &amp; High-Risk Cohorts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Identifying high-risk patient segments for targeted pre-discharge interventions.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47088"/>
            <a:ext cx="4882896" cy="4169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2C59"/>
                </a:solidFill>
                <a:latin typeface="Segoe UI"/>
              </a:defRPr>
            </a:pPr>
            <a:r>
              <a:t>Admission Mode &amp; Discharge Dispositions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Emergency vs. Elective Contrast: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    - • Emergency admissions exhibit significantly higher 30-day readmissions (11.8%) than Elective admissions (9.4%).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    - • Urgent admissions fall in-between at 10.9%.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Discharge Disposition Trajectory: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    - • Discharged to Home: Baseline readmission rate of ~10.4%.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    - • Discharged to Skilled Nursing Facility (SNF): Readmission rate climbs to 14.2%.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    - • Discharged with Home Health Service: Readmission rate reaches 13.1%.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Clinical Takeaway: Patients routed to secondary care facilities require structured warm handoffs to prevent rapid relapse.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847088"/>
            <a:ext cx="4882896" cy="4169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80032"/>
                </a:solidFill>
                <a:latin typeface="Segoe UI"/>
              </a:defRPr>
            </a:pPr>
            <a:r>
              <a:t>Observed High-Readmission Cohorts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Multi-Attribute Risk Compounding: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    - Combining multiple clinical indicators isolates cohorts with readmission rates exceeding 20%: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    - • Cohort A: Age 70+ | Circulatory Diagnosis | LOS &gt; 6 days -&gt; 18.7% readmission rate.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    - • Cohort B: Emergency Admission | Prior Inpatient Visits &gt;= 2 | Insulin Changed -&gt; 22.4% readmission rate.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    - • Cohort C: SNF Discharge | Diabetic Ketoacidosis -&gt; 24.1% readmission rate.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Decision Support Impact: Provides hospital discharge coordinators with automated, ranked patient lists for targeted case management.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E8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8388"/>
                </a:solidFill>
                <a:latin typeface="Segoe UI"/>
              </a:defRPr>
            </a:pPr>
            <a:r>
              <a:t>VERIFICATION &amp;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Segoe UI"/>
              </a:defRPr>
            </a:pPr>
            <a:r>
              <a:t>Automated Testing Suite &amp; Performance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Empirical evidence of system reliability, data fidelity, and high processing throughput.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4688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246888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65376"/>
            <a:ext cx="224942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400" b="1">
                <a:solidFill>
                  <a:srgbClr val="2E7D32"/>
                </a:solidFill>
                <a:latin typeface="Segoe UI"/>
              </a:defRPr>
            </a:pPr>
            <a:r>
              <a:t>18 / 18</a:t>
            </a:r>
          </a:p>
          <a:p>
            <a:pPr algn="ctr">
              <a:spcAft>
                <a:spcPts val="200"/>
              </a:spcAft>
              <a:defRPr sz="1100" b="1">
                <a:solidFill>
                  <a:srgbClr val="1A202C"/>
                </a:solidFill>
                <a:latin typeface="Segoe UI"/>
              </a:defRPr>
            </a:pPr>
            <a:r>
              <a:t>PYTEST UNIT TESTS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100% Passing in ~8.6s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737360"/>
            <a:ext cx="24688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737360"/>
            <a:ext cx="2468880" cy="7315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1865376"/>
            <a:ext cx="224942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400" b="1">
                <a:solidFill>
                  <a:srgbClr val="0F2C59"/>
                </a:solidFill>
                <a:latin typeface="Segoe UI"/>
              </a:defRPr>
            </a:pPr>
            <a:r>
              <a:t>101,766</a:t>
            </a:r>
          </a:p>
          <a:p>
            <a:pPr algn="ctr">
              <a:spcAft>
                <a:spcPts val="200"/>
              </a:spcAft>
              <a:defRPr sz="1100" b="1">
                <a:solidFill>
                  <a:srgbClr val="1A202C"/>
                </a:solidFill>
                <a:latin typeface="Segoe UI"/>
              </a:defRPr>
            </a:pPr>
            <a:r>
              <a:t>RECORDS PROCESSED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Zero Unhandled Exceptions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24688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2468880" cy="73152"/>
          </a:xfrm>
          <a:prstGeom prst="rect">
            <a:avLst/>
          </a:prstGeom>
          <a:solidFill>
            <a:srgbClr val="0E8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865376"/>
            <a:ext cx="224942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400" b="1">
                <a:solidFill>
                  <a:srgbClr val="0E8388"/>
                </a:solidFill>
                <a:latin typeface="Segoe UI"/>
              </a:defRPr>
            </a:pPr>
            <a:r>
              <a:t>19.87s</a:t>
            </a:r>
          </a:p>
          <a:p>
            <a:pPr algn="ctr">
              <a:spcAft>
                <a:spcPts val="200"/>
              </a:spcAft>
              <a:defRPr sz="1100" b="1">
                <a:solidFill>
                  <a:srgbClr val="1A202C"/>
                </a:solidFill>
                <a:latin typeface="Segoe UI"/>
              </a:defRPr>
            </a:pPr>
            <a:r>
              <a:t>END-TO-END PIPELINE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~5,100 Records / Second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737360"/>
            <a:ext cx="24688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1737360"/>
            <a:ext cx="2468880" cy="73152"/>
          </a:xfrm>
          <a:prstGeom prst="rect">
            <a:avLst/>
          </a:prstGeom>
          <a:solidFill>
            <a:srgbClr val="336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0848" y="1865376"/>
            <a:ext cx="224942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400" b="1">
                <a:solidFill>
                  <a:srgbClr val="336791"/>
                </a:solidFill>
                <a:latin typeface="Segoe UI"/>
              </a:defRPr>
            </a:pPr>
            <a:r>
              <a:t>&lt; 15ms</a:t>
            </a:r>
          </a:p>
          <a:p>
            <a:pPr algn="ctr">
              <a:spcAft>
                <a:spcPts val="200"/>
              </a:spcAft>
              <a:defRPr sz="1100" b="1">
                <a:solidFill>
                  <a:srgbClr val="1A202C"/>
                </a:solidFill>
                <a:latin typeface="Segoe UI"/>
              </a:defRPr>
            </a:pPr>
            <a:r>
              <a:t>INDEXED QUERY LATENCY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PostgreSQL B-Tree Indexes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31520" y="306324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103120"/>
                <a:gridCol w="914400"/>
                <a:gridCol w="1188720"/>
                <a:gridCol w="4602175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Test Module</a:t>
                      </a:r>
                    </a:p>
                  </a:txBody>
                  <a:tcPr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Focus Area</a:t>
                      </a:r>
                    </a:p>
                  </a:txBody>
                  <a:tcPr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Tests</a:t>
                      </a:r>
                    </a:p>
                  </a:txBody>
                  <a:tcPr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Key Assertion Verified</a:t>
                      </a:r>
                    </a:p>
                  </a:txBody>
                  <a:tcPr>
                    <a:solidFill>
                      <a:srgbClr val="0F2C5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test_ingestion.py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Download &amp; Checksums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SHA-256 hash match, synthetic generator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test_validation.py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Data Quality &amp; Quarantine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Schema check, PK nullity, duplicates, bounds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test_transformations.py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Feature Engineering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Missing '?' map, ICD-9 groups, salted keys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test_database.py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PostgreSQL &amp; Resilience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DDL migration, Parquet fallback, mart logic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Total Test Suite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Full Platform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202C"/>
                          </a:solidFill>
                          <a:latin typeface="Segoe UI"/>
                        </a:defRPr>
                      </a:pPr>
                      <a:r>
                        <a:t>100% Pass Rate across all core modules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731520" y="5486400"/>
            <a:ext cx="10728655" cy="73152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E7D32"/>
                </a:solidFill>
                <a:latin typeface="Segoe UI"/>
              </a:defRPr>
            </a:pPr>
            <a:r>
              <a:t>Audit Verification Proof: Automated Execution Reports</a:t>
            </a:r>
          </a:p>
          <a:p>
            <a:pPr>
              <a:defRPr sz="950">
                <a:solidFill>
                  <a:srgbClr val="1A202C"/>
                </a:solidFill>
                <a:latin typeface="Segoe UI"/>
              </a:defRPr>
            </a:pPr>
            <a:r>
              <a:t>Every pipeline execution produces an immutable JSON &amp; Markdown audit summary in reports/ recording row counts, checksums, timestamps, and database connectivity.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E8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8388"/>
                </a:solidFill>
                <a:latin typeface="Segoe UI"/>
              </a:defRPr>
            </a:pPr>
            <a:r>
              <a:t>FUTURE EXTENSION: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Segoe UI"/>
              </a:defRPr>
            </a:pPr>
            <a:r>
              <a:t>MLOps Roadmap: From Data Marts to Predictive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The planned architectural extension establishing production machine learning lifecycle management.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51460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47088"/>
            <a:ext cx="2185416" cy="4169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2C59"/>
                </a:solidFill>
                <a:latin typeface="Segoe UI"/>
              </a:defRPr>
            </a:pPr>
            <a:r>
              <a:t>Phase 1: Feature Store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Extract point-in-time features from curated relational tables.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Offline training sets &amp; online feature serving via Redis/Feast.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Versioned feature catalog with patient historical aggregations.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737360"/>
            <a:ext cx="251460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0168" y="1847088"/>
            <a:ext cx="2185416" cy="4169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E8388"/>
                </a:solidFill>
                <a:latin typeface="Segoe UI"/>
              </a:defRPr>
            </a:pPr>
            <a:r>
              <a:t>Phase 2: Model Training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Candidate Models: Logistic Regression, Random Forest, XGBoost, LightGBM.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Class Imbalance Handling: SMOTE, Focal Loss, class-weighted optimization (11% target).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Stratified K-Fold cross-validation.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737360"/>
            <a:ext cx="251460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847088"/>
            <a:ext cx="2185416" cy="4169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97706"/>
                </a:solidFill>
                <a:latin typeface="Segoe UI"/>
              </a:defRPr>
            </a:pPr>
            <a:r>
              <a:t>Phase 3: Experiment Tracking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MLflow Integration: Tracking hyperparameters, ROC-AUC, PR-AUC, calibration curves.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Automated Model Registry with staging, production, and archival stages.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Model artifact versioning with dependencies.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33688" y="1737360"/>
            <a:ext cx="251460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847088"/>
            <a:ext cx="2185416" cy="4169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E7D32"/>
                </a:solidFill>
                <a:latin typeface="Segoe UI"/>
              </a:defRPr>
            </a:pPr>
            <a:r>
              <a:t>Phase 4: Fairness &amp; Deployment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Fairness &amp; Bias Auditing: Disparate impact ratio across demographic subgroups.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FastAPI Inference Endpoint: Containerized real-time patient risk scoring API.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Streamlit Risk Prediction UI: Interactive what-if patient risk scoring.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E8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8388"/>
                </a:solidFill>
                <a:latin typeface="Segoe UI"/>
              </a:defRPr>
            </a:pPr>
            <a:r>
              <a:t>ENGINEERING LEARNINGS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Segoe UI"/>
              </a:defRPr>
            </a:pPr>
            <a:r>
              <a:t>Key Technical Lessons &amp; Production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Insights gained from designing and orchestrating a robust healthcare data pipeline.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47088"/>
            <a:ext cx="4882896" cy="1929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2C59"/>
                </a:solidFill>
                <a:latin typeface="Segoe UI"/>
              </a:defRPr>
            </a:pPr>
            <a:r>
              <a:t>1. Designing for Offline Resilience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Production databases can encounter network partition or container restarts.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Implemented dual-backend data loader in Streamlit: seamlessly reads from PostgreSQL when connected, falls back to Parquet cache if offline.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Lesson: Graceful degradation prevents pipeline crashes and ensures continuous analytical availability.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847088"/>
            <a:ext cx="4882896" cy="1929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E8388"/>
                </a:solidFill>
                <a:latin typeface="Segoe UI"/>
              </a:defRPr>
            </a:pPr>
            <a:r>
              <a:t>2. Idempotent Pipeline Architecture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ETL runs must be safely repeatable without duplicating records or corrupting state.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Implemented pipeline_run_id tagged outputs, IF NOT EXISTS DDL migrations, and atomic write patterns.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Lesson: Idempotency is fundamental for Airflow retry policies and distributed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521208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178808"/>
            <a:ext cx="4882896" cy="1929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97706"/>
                </a:solidFill>
                <a:latin typeface="Segoe UI"/>
              </a:defRPr>
            </a:pPr>
            <a:r>
              <a:t>3. Quarantining Over Silent Dropping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In healthcare, silently dropping malformed records creates invisible selection bias.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Isolated bad records into rejected.encounters with explicit reason codes.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Lesson: Observability into what failed and why is critical for regulatory compliance and debugging.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069080"/>
            <a:ext cx="521208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178808"/>
            <a:ext cx="4882896" cy="1929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E7D32"/>
                </a:solidFill>
                <a:latin typeface="Segoe UI"/>
              </a:defRPr>
            </a:pPr>
            <a:r>
              <a:t>4. Privacy by Design From Day One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Retrofitting privacy into existing data lakes is expensive and error-prone.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Integrated salted SHA-256 surrogate keys directly at the boundary of staging and curated layers.</a:t>
            </a:r>
          </a:p>
          <a:p>
            <a:pPr>
              <a:spcAft>
                <a:spcPts val="400"/>
              </a:spcAft>
              <a:defRPr sz="1100">
                <a:solidFill>
                  <a:srgbClr val="1A202C"/>
                </a:solidFill>
                <a:latin typeface="Segoe UI"/>
              </a:defRPr>
            </a:pPr>
            <a:r>
              <a:t>•  Lesson: Embedding HIPAA Safe Harbor rules early eliminates the risk of accidental PHI exposure.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E8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Summary of Achievements &amp; Conclusion</a:t>
            </a:r>
          </a:p>
          <a:p>
            <a:pPr>
              <a:defRPr sz="1400">
                <a:solidFill>
                  <a:srgbClr val="0E8388"/>
                </a:solidFill>
                <a:latin typeface="Segoe UI"/>
              </a:defRPr>
            </a:pPr>
            <a:r>
              <a:t>Hospital Readmission Analytics &amp; Prediction Platform — Part 1 Complete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5029200" cy="329184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0E8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Key Deliverables Accomplished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✔  Reproducible 12-task pipeline executing in 19.87 seconds.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✔  HIPAA Safe Harbor cryptographic salted hashing for 71k+ patients.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✔  Audited PostgreSQL 16 schema with 5 dedicated functional layers.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✔  Rigorous 18-rule validation framework with quarantined error tracking.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✔  Interactive Streamlit &amp; Plotly dashboard with 5 clinical views.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✔  18/18 Automated Pytest suite passing with 100% test success.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✔  Clean, decoupled interface prepared for Part 2 MLOps extension.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94560"/>
            <a:ext cx="5029200" cy="329184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336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Questions &amp; Discussion</a:t>
            </a:r>
          </a:p>
          <a:p>
            <a:pPr>
              <a:spcAft>
                <a:spcPts val="1200"/>
              </a:spcAft>
              <a:defRPr sz="1400" b="1">
                <a:solidFill>
                  <a:srgbClr val="0E8388"/>
                </a:solidFill>
                <a:latin typeface="Segoe UI"/>
              </a:defRPr>
            </a:pPr>
            <a:r>
              <a:t>Thank you for your time and attention!</a:t>
            </a:r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Project Resources &amp; Documentation:</a:t>
            </a:r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 Codebase: hospital-readmission-analytics</a:t>
            </a:r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 Dashboard: http://localhost:8501 (Streamlit)</a:t>
            </a:r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 Pipeline Runner: python scripts/run_pipeline.py</a:t>
            </a:r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 Architecture Docs: docs/architecture.md</a:t>
            </a:r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 Data Quality Specs: docs/validation_rules.md</a:t>
            </a:r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 Test Suite: pytest tests/ -v (18 passed)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